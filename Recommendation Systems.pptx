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282" r:id="rId7"/>
    <p:sldId id="314" r:id="rId8"/>
    <p:sldId id="325" r:id="rId9"/>
    <p:sldId id="326" r:id="rId10"/>
    <p:sldId id="323" r:id="rId11"/>
    <p:sldId id="324" r:id="rId12"/>
    <p:sldId id="315" r:id="rId13"/>
    <p:sldId id="327" r:id="rId14"/>
    <p:sldId id="328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>
        <p:scale>
          <a:sx n="91" d="100"/>
          <a:sy n="91" d="100"/>
        </p:scale>
        <p:origin x="322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E9F39-A099-D097-7243-60A5FD688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2C431-26B1-7EFA-E54F-D8D0EC9E3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C9797-C0ED-9C51-72E3-DC139D85D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5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6B15-FDD7-1D51-C1C8-09339142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BB574-0941-7E3A-C28F-7A98A0BA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001CE1-A7C9-868F-645C-627B60E07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5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3485-8BBB-E7F3-AEBA-081E3B23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E2F30-F7D1-0E75-2BAA-596C6C319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FD4F9-91DA-DC05-2662-4538002A8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195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4669-D5F6-5212-CA3F-CB221209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E7633-D5B3-9B96-4259-0032A17F4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11B43-E63B-FA86-5DFC-BC31F9196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994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8BF9-7697-91CA-25D3-4E9CBE79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58D09-CE87-0033-316C-9CFD3EE3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ED598-D3EC-00C6-6764-01292B0A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75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2400" dirty="0"/>
              <a:t>Recommendation Systems</a:t>
            </a:r>
            <a:br>
              <a:rPr lang="en-US" sz="2400" dirty="0"/>
            </a:br>
            <a:r>
              <a:rPr lang="en-US" sz="2400" dirty="0"/>
              <a:t>Enhancing Personalized User Experiences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- Aryan Raut</a:t>
            </a:r>
            <a:br>
              <a:rPr lang="en-US" sz="2400" dirty="0"/>
            </a:br>
            <a:r>
              <a:rPr lang="en-US" sz="2400" dirty="0"/>
              <a:t> 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CA07076-A019-F601-0211-8EDCB953A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715101"/>
            <a:ext cx="4815164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Definitions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 in Online Platforms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Main Types of Recommendation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Literature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Major Challenges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Evaluation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Ethical Considerations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 &amp; Future Outlook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Recommendation systems = Core part of almost every major digital platform</a:t>
            </a:r>
          </a:p>
          <a:p>
            <a:r>
              <a:rPr lang="en-US" dirty="0"/>
              <a:t>Goal → Deliver personalized suggestions using </a:t>
            </a:r>
          </a:p>
          <a:p>
            <a:pPr marL="0" indent="0">
              <a:buNone/>
            </a:pPr>
            <a:r>
              <a:rPr lang="en-US" dirty="0"/>
              <a:t>	• Data Analytics </a:t>
            </a:r>
          </a:p>
          <a:p>
            <a:pPr marL="0" indent="0">
              <a:buNone/>
            </a:pPr>
            <a:r>
              <a:rPr lang="en-US" dirty="0"/>
              <a:t>	• Data Science </a:t>
            </a:r>
          </a:p>
          <a:p>
            <a:pPr marL="0" indent="0">
              <a:buNone/>
            </a:pPr>
            <a:r>
              <a:rPr lang="en-US" dirty="0"/>
              <a:t>	• Artificial Intelligence</a:t>
            </a:r>
            <a:endParaRPr lang="en-US" dirty="0">
              <a:effectLst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332039"/>
            <a:ext cx="7043617" cy="1094089"/>
          </a:xfrm>
        </p:spPr>
        <p:txBody>
          <a:bodyPr/>
          <a:lstStyle/>
          <a:p>
            <a:r>
              <a:rPr lang="en-IN" dirty="0"/>
              <a:t>Key Definitions</a:t>
            </a:r>
            <a:endParaRPr lang="en-IN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1787003"/>
            <a:ext cx="7043618" cy="480674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Data Analytics</a:t>
            </a:r>
            <a:r>
              <a:rPr lang="en-IN" dirty="0"/>
              <a:t> Examining raw data → meaningful insights → better decisions</a:t>
            </a:r>
          </a:p>
          <a:p>
            <a:endParaRPr lang="en-IN" dirty="0"/>
          </a:p>
          <a:p>
            <a:r>
              <a:rPr lang="en-IN" b="1" dirty="0"/>
              <a:t>Data Science</a:t>
            </a:r>
            <a:r>
              <a:rPr lang="en-IN" dirty="0"/>
              <a:t> Statistics + Programming + Domain knowledge → extract knowledge &amp; build predictive models</a:t>
            </a:r>
          </a:p>
          <a:p>
            <a:endParaRPr lang="en-IN" dirty="0"/>
          </a:p>
          <a:p>
            <a:r>
              <a:rPr lang="en-IN" b="1" dirty="0"/>
              <a:t>Artificial Intelligence (AI)</a:t>
            </a:r>
            <a:r>
              <a:rPr lang="en-IN" dirty="0"/>
              <a:t> Machines performing tasks that normally require human intelligence (learning • reasoning • decision making)</a:t>
            </a:r>
          </a:p>
          <a:p>
            <a:endParaRPr lang="en-IN" dirty="0"/>
          </a:p>
          <a:p>
            <a:r>
              <a:rPr lang="en-US" b="1" dirty="0"/>
              <a:t>Recommendation System</a:t>
            </a:r>
            <a:r>
              <a:rPr lang="en-US" dirty="0"/>
              <a:t> Information filtering system that predicts what a user will like</a:t>
            </a:r>
          </a:p>
          <a:p>
            <a:endParaRPr lang="en-US" dirty="0"/>
          </a:p>
          <a:p>
            <a:r>
              <a:rPr lang="en-US" b="1" dirty="0"/>
              <a:t>Collaborative Filtering</a:t>
            </a:r>
            <a:r>
              <a:rPr lang="en-US" dirty="0"/>
              <a:t> “People similar to you also liked …” Uses user–user or item–item similarity</a:t>
            </a:r>
          </a:p>
          <a:p>
            <a:endParaRPr lang="en-US" dirty="0"/>
          </a:p>
          <a:p>
            <a:r>
              <a:rPr lang="en-US" b="1" dirty="0"/>
              <a:t>Content-Based Filtering</a:t>
            </a:r>
            <a:r>
              <a:rPr lang="en-US" dirty="0"/>
              <a:t> “Items similar to the ones you already liked …” Uses item features + your profile</a:t>
            </a:r>
          </a:p>
          <a:p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59A5-4024-13BF-864D-DF323D3BD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FB2A3F-0533-F485-71B5-EC7A234D7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FC8EE-7329-807F-363D-40C2CEE41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288012" cy="3704266"/>
          </a:xfrm>
        </p:spPr>
        <p:txBody>
          <a:bodyPr/>
          <a:lstStyle/>
          <a:p>
            <a:r>
              <a:rPr lang="en-IN" b="1" dirty="0"/>
              <a:t>Core Stages (Multi-Stage Pipeline – still dominant in 2025–2026)</a:t>
            </a:r>
            <a:endParaRPr lang="en-IN" dirty="0"/>
          </a:p>
          <a:p>
            <a:r>
              <a:rPr lang="en-IN" b="1" dirty="0"/>
              <a:t>Data Collection</a:t>
            </a:r>
            <a:r>
              <a:rPr lang="en-IN" dirty="0"/>
              <a:t> User interactions + item metadata + context (time, device)</a:t>
            </a:r>
          </a:p>
          <a:p>
            <a:r>
              <a:rPr lang="en-IN" b="1" dirty="0"/>
              <a:t>Candidate Generation (Recall)</a:t>
            </a:r>
            <a:r>
              <a:rPr lang="en-IN" dirty="0"/>
              <a:t> Fast retrieval: Two-Tower / ANN / Embeddings → top 100–1000 items (Vector search: FAISS, Pinecone, Milvus)</a:t>
            </a:r>
          </a:p>
          <a:p>
            <a:r>
              <a:rPr lang="en-IN" b="1" dirty="0"/>
              <a:t>Ranking</a:t>
            </a:r>
            <a:r>
              <a:rPr lang="en-IN" dirty="0"/>
              <a:t> Deep models score candidates: DNN, Wide &amp; Deep, DIN, Transformers (Learning-to-Rank, Multi-Task, RL elements)</a:t>
            </a:r>
          </a:p>
          <a:p>
            <a:r>
              <a:rPr lang="en-IN" b="1" dirty="0"/>
              <a:t>Re-ranking &amp; Post-processing</a:t>
            </a:r>
            <a:r>
              <a:rPr lang="en-IN" dirty="0"/>
              <a:t> Apply diversity, fairness, business rules, serendipity</a:t>
            </a:r>
          </a:p>
          <a:p>
            <a:r>
              <a:rPr lang="en-IN" b="1" dirty="0"/>
              <a:t>Serving + Feedback Loop</a:t>
            </a:r>
            <a:r>
              <a:rPr lang="en-IN" dirty="0"/>
              <a:t> Low-latency inference (&lt;100 ms) → A/B test → continuous retraining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385585-49FC-626C-A997-CAADDA964A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9E7B50-A068-8B3F-5F20-77F28B4BC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87328" y="2331791"/>
            <a:ext cx="45719" cy="372181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19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71CC-F549-40F5-C6FF-D3E6AFC75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F3A32B-C67E-1CBD-863A-EF0CCE71F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Tech stack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8F518-AD4D-4FEF-97B3-E3BFBBE743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9288012" cy="3704266"/>
          </a:xfrm>
        </p:spPr>
        <p:txBody>
          <a:bodyPr/>
          <a:lstStyle/>
          <a:p>
            <a:r>
              <a:rPr lang="en-IN" sz="1600" b="1" dirty="0"/>
              <a:t>Core Languages &amp; Frameworks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Python (dominant)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PyTorch</a:t>
            </a:r>
            <a:r>
              <a:rPr lang="en-IN" sz="1600" dirty="0"/>
              <a:t> (research + production leader 2025–2026)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TensorFlow / Keras (enterprise / legacy)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Scikit-learn + XGBoost / LightGBM (tabular / hybrid ranking)</a:t>
            </a:r>
          </a:p>
          <a:p>
            <a:r>
              <a:rPr lang="en-IN" sz="1600" b="1" dirty="0"/>
              <a:t>Key Infrastructure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 / Streaming</a:t>
            </a:r>
            <a:r>
              <a:rPr lang="en-IN" sz="1600" dirty="0"/>
              <a:t>: Kafka / Spark / Databricks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Vector Search</a:t>
            </a:r>
            <a:r>
              <a:rPr lang="en-IN" sz="1600" dirty="0"/>
              <a:t>: Pinecone, </a:t>
            </a:r>
            <a:r>
              <a:rPr lang="en-IN" sz="1600" dirty="0" err="1"/>
              <a:t>Qdrant</a:t>
            </a:r>
            <a:r>
              <a:rPr lang="en-IN" sz="1600" dirty="0"/>
              <a:t>, Milvus, FAISS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Storage / Cache</a:t>
            </a:r>
            <a:r>
              <a:rPr lang="en-IN" sz="1600" dirty="0"/>
              <a:t>: PostgreSQL / Redis / S3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Serving</a:t>
            </a:r>
            <a:r>
              <a:rPr lang="en-IN" sz="1600" dirty="0"/>
              <a:t>: </a:t>
            </a:r>
            <a:r>
              <a:rPr lang="en-IN" sz="1600" dirty="0" err="1"/>
              <a:t>FastAPI</a:t>
            </a:r>
            <a:r>
              <a:rPr lang="en-IN" sz="1600" dirty="0"/>
              <a:t> / </a:t>
            </a:r>
            <a:r>
              <a:rPr lang="en-IN" sz="1600" dirty="0" err="1"/>
              <a:t>TorchServe</a:t>
            </a:r>
            <a:r>
              <a:rPr lang="en-IN" sz="1600" dirty="0"/>
              <a:t> / Triton / Kubernetes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MLOps</a:t>
            </a:r>
            <a:r>
              <a:rPr lang="en-IN" sz="1600" dirty="0"/>
              <a:t>: </a:t>
            </a:r>
            <a:r>
              <a:rPr lang="en-IN" sz="1600" dirty="0" err="1"/>
              <a:t>MLflow</a:t>
            </a:r>
            <a:r>
              <a:rPr lang="en-IN" sz="1600" dirty="0"/>
              <a:t>, Weights &amp; Biases, Kubeflow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2CD16-1583-8731-C1DB-CFDA0A9C0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26576C-4819-CB33-DA8B-420B41371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387328" y="2331791"/>
            <a:ext cx="45719" cy="3721817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03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EF43-72BC-7591-002D-FC7E16DA6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5BF6-AB24-0BA2-EA52-AB17C500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8" y="332039"/>
            <a:ext cx="7043617" cy="1094089"/>
          </a:xfrm>
        </p:spPr>
        <p:txBody>
          <a:bodyPr/>
          <a:lstStyle/>
          <a:p>
            <a:r>
              <a:rPr lang="en-IN" dirty="0"/>
              <a:t>Collaborative Filtering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049D87-14E8-02EE-19FD-B63CF6391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07160-F532-876B-5161-0946EFE9D0E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1787003"/>
            <a:ext cx="7043618" cy="480674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User-based → find users similar to you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Item-based → find items similar to what you liked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Classic technique: Matrix Factorization (SVD, </a:t>
            </a:r>
            <a:r>
              <a:rPr lang="en-IN" dirty="0" err="1"/>
              <a:t>FunkSVD</a:t>
            </a:r>
            <a:r>
              <a:rPr lang="en-IN" dirty="0"/>
              <a:t>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Advantage: can find unexpected interests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 Disadvantage: data sparsity &amp; cold-start</a:t>
            </a:r>
          </a:p>
          <a:p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052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B6845-3F99-235E-F1DD-80535523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54AC-EA6A-C34C-8A14-5E2A66E3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Content-Based Filtering</a:t>
            </a: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3590D9-6565-D663-E05E-38848BB15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6589E0B-32EB-767D-C46D-516E9FDE5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524925" cy="3720337"/>
          </a:xfrm>
        </p:spPr>
        <p:txBody>
          <a:bodyPr>
            <a:normAutofit/>
          </a:bodyPr>
          <a:lstStyle/>
          <a:p>
            <a:r>
              <a:rPr lang="en-IN" dirty="0"/>
              <a:t>Uses item metadata (genres, actors, director, tags, description …)</a:t>
            </a:r>
          </a:p>
          <a:p>
            <a:r>
              <a:rPr lang="en-IN" b="1" dirty="0"/>
              <a:t>Hybrid Approaches</a:t>
            </a:r>
            <a:r>
              <a:rPr lang="en-IN" dirty="0"/>
              <a:t> (most real-world systems today)</a:t>
            </a:r>
          </a:p>
          <a:p>
            <a:r>
              <a:rPr lang="en-IN" dirty="0"/>
              <a:t> • Weighted hybrid </a:t>
            </a:r>
          </a:p>
          <a:p>
            <a:r>
              <a:rPr lang="en-IN" dirty="0"/>
              <a:t>• Switching hybrid</a:t>
            </a:r>
          </a:p>
          <a:p>
            <a:r>
              <a:rPr lang="en-IN" dirty="0"/>
              <a:t> • Feature combination</a:t>
            </a:r>
          </a:p>
          <a:p>
            <a:r>
              <a:rPr lang="en-IN" dirty="0"/>
              <a:t> • Cascade hybrid</a:t>
            </a:r>
          </a:p>
          <a:p>
            <a:r>
              <a:rPr lang="en-IN" dirty="0"/>
              <a:t>→ Best accuracy &amp; robustness</a:t>
            </a:r>
            <a:endParaRPr lang="en-IN" dirty="0">
              <a:effectLst/>
            </a:endParaRP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8B09040B-C841-51DA-D409-2700F2973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14327" y="3429000"/>
            <a:ext cx="1971110" cy="86801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730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Where they are used?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524925" cy="372033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Netflix ─ movie &amp; series 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Amazon ─ “Customers who bought this also bought …”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YouTube ─ next video suggestions Spotify ─ Discover Weekly, Daily Mixes Instagram / TikTok ─ For You feed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LinkedIn ─ jobs &amp; people you may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→ Drive huge part of revenue &amp; engagement</a:t>
            </a:r>
          </a:p>
          <a:p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14327" y="3429000"/>
            <a:ext cx="1971110" cy="86801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4740-F528-006A-4AFA-DB6A23F3C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9CC39-8C00-4E7A-5FF5-263465FD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Major Challenges</a:t>
            </a:r>
            <a:endParaRPr lang="en-IN" dirty="0">
              <a:effectLst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B6FE1F-B617-290C-DA6E-1EAEA266E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52F99BBC-314F-C586-A0E6-A04C6B174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14327" y="3429000"/>
            <a:ext cx="1971110" cy="86801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04413E6-61BD-2F42-C4DE-657FE460F68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914399" y="2409162"/>
            <a:ext cx="49495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Data Sparsity (most ratings missing)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Cold-start problem (new users &amp; new items)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Scalability (billions of interactions)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Privacy &amp; GDPR/CCPA compliance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Filter bubbles &amp; echo chambers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Popularity bias &amp; long-tail problem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Fairness &amp; algorithmic bias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Explanation &amp; transparency </a:t>
            </a:r>
          </a:p>
        </p:txBody>
      </p:sp>
    </p:spTree>
    <p:extLst>
      <p:ext uri="{BB962C8B-B14F-4D97-AF65-F5344CB8AC3E}">
        <p14:creationId xmlns:p14="http://schemas.microsoft.com/office/powerpoint/2010/main" val="3298681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A322-7F19-5E19-DF64-9A621B76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04176-581F-8A58-2967-3855B30D9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51B5C-9898-A125-6D74-ED6080BE2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441035" cy="4554972"/>
          </a:xfrm>
        </p:spPr>
        <p:txBody>
          <a:bodyPr/>
          <a:lstStyle/>
          <a:p>
            <a:r>
              <a:rPr lang="en-IN" dirty="0"/>
              <a:t>Recommendation systems are now infrastructure</a:t>
            </a:r>
          </a:p>
          <a:p>
            <a:r>
              <a:rPr lang="en-IN" dirty="0"/>
              <a:t>They tightly integrate: Data Analytics ↔ Data Science ↔ AI</a:t>
            </a:r>
          </a:p>
          <a:p>
            <a:r>
              <a:rPr lang="en-IN" dirty="0"/>
              <a:t>Biggest current research directions </a:t>
            </a:r>
          </a:p>
          <a:p>
            <a:r>
              <a:rPr lang="en-IN" dirty="0"/>
              <a:t>• Better cold-start &amp; long-tail handling </a:t>
            </a:r>
          </a:p>
          <a:p>
            <a:r>
              <a:rPr lang="en-IN" dirty="0"/>
              <a:t>• Privacy-preserving methods (federated learning, DP) </a:t>
            </a:r>
          </a:p>
          <a:p>
            <a:r>
              <a:rPr lang="en-IN" dirty="0"/>
              <a:t>• Fair, diverse &amp; explainable recommenders </a:t>
            </a:r>
          </a:p>
          <a:p>
            <a:r>
              <a:rPr lang="en-IN" dirty="0"/>
              <a:t>• Multimodal &amp; large language model powered systems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CC618B-3B9A-46A0-66A7-234044E4D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92649" y="2613420"/>
            <a:ext cx="3284951" cy="37203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66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sz="6000" dirty="0"/>
              <a:t>Thank </a:t>
            </a:r>
            <a:br>
              <a:rPr lang="en-US" sz="6000" dirty="0"/>
            </a:br>
            <a:r>
              <a:rPr lang="en-US" sz="6000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{1961A52F-4191-4D1E-880A-3C39620F867A}TF8a9b5915-b8c7-461e-8cdd-693d48b5e32371f7b7e2_win32-4bf0b9a2ea37</Template>
  <TotalTime>32</TotalTime>
  <Words>614</Words>
  <Application>Microsoft Office PowerPoint</Application>
  <PresentationFormat>Widescreen</PresentationFormat>
  <Paragraphs>103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Custom</vt:lpstr>
      <vt:lpstr>Recommendation Systems Enhancing Personalized User Experiences  - Aryan Raut  </vt:lpstr>
      <vt:lpstr>agenda</vt:lpstr>
      <vt:lpstr>introduction</vt:lpstr>
      <vt:lpstr>Key Definitions</vt:lpstr>
      <vt:lpstr>methodology</vt:lpstr>
      <vt:lpstr>Tech stack </vt:lpstr>
      <vt:lpstr>Collaborative Filtering</vt:lpstr>
      <vt:lpstr>Content-Based Filtering </vt:lpstr>
      <vt:lpstr>Where they are used?</vt:lpstr>
      <vt:lpstr>Major Challenges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aryan123 raut</dc:creator>
  <cp:lastModifiedBy>aryan123 raut</cp:lastModifiedBy>
  <cp:revision>1</cp:revision>
  <dcterms:created xsi:type="dcterms:W3CDTF">2026-02-27T12:34:57Z</dcterms:created>
  <dcterms:modified xsi:type="dcterms:W3CDTF">2026-02-27T13:07:53Z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